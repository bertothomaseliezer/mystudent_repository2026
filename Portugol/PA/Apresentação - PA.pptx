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ézer Thomas" userId="73fec7e389125d15" providerId="LiveId" clId="{7E8A6756-F1E3-4392-9ABD-9EEA6382CD8D}"/>
    <pc:docChg chg="custSel modSld modNotesMaster">
      <pc:chgData name="Eliézer Thomas" userId="73fec7e389125d15" providerId="LiveId" clId="{7E8A6756-F1E3-4392-9ABD-9EEA6382CD8D}" dt="2026-09-29T20:09:14.123" v="6" actId="20577"/>
      <pc:docMkLst>
        <pc:docMk/>
      </pc:docMkLst>
      <pc:sldChg chg="mod modTransition">
        <pc:chgData name="Eliézer Thomas" userId="73fec7e389125d15" providerId="LiveId" clId="{7E8A6756-F1E3-4392-9ABD-9EEA6382CD8D}" dt="2026-09-29T20:08:32.026" v="1" actId="26606"/>
        <pc:sldMkLst>
          <pc:docMk/>
          <pc:sldMk cId="100001" sldId="256"/>
        </pc:sldMkLst>
      </pc:sldChg>
      <pc:sldChg chg="modSp mod modTransition">
        <pc:chgData name="Eliézer Thomas" userId="73fec7e389125d15" providerId="LiveId" clId="{7E8A6756-F1E3-4392-9ABD-9EEA6382CD8D}" dt="2026-09-29T20:09:14.123" v="6" actId="20577"/>
        <pc:sldMkLst>
          <pc:docMk/>
          <pc:sldMk cId="200001" sldId="257"/>
        </pc:sldMkLst>
        <pc:spChg chg="mod">
          <ac:chgData name="Eliézer Thomas" userId="73fec7e389125d15" providerId="LiveId" clId="{7E8A6756-F1E3-4392-9ABD-9EEA6382CD8D}" dt="2026-09-29T20:09:14.123" v="6" actId="20577"/>
          <ac:spMkLst>
            <pc:docMk/>
            <pc:sldMk cId="200001" sldId="257"/>
            <ac:spMk id="9" creationId="{00000002-0009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200001" sldId="257"/>
            <ac:spMk id="10" creationId="{00000002-000A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200001" sldId="257"/>
            <ac:spMk id="11" creationId="{00000002-000B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200001" sldId="257"/>
            <ac:spMk id="12" creationId="{00000002-000C-4000-8000-000000000000}"/>
          </ac:spMkLst>
        </pc:spChg>
      </pc:sldChg>
      <pc:sldChg chg="modSp mod modTransition">
        <pc:chgData name="Eliézer Thomas" userId="73fec7e389125d15" providerId="LiveId" clId="{7E8A6756-F1E3-4392-9ABD-9EEA6382CD8D}" dt="2026-09-29T20:08:32.026" v="1" actId="26606"/>
        <pc:sldMkLst>
          <pc:docMk/>
          <pc:sldMk cId="300001" sldId="258"/>
        </pc:sldMkLst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300001" sldId="258"/>
            <ac:spMk id="10" creationId="{00000003-000A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300001" sldId="258"/>
            <ac:spMk id="11" creationId="{00000003-000B-4000-8000-000000000000}"/>
          </ac:spMkLst>
        </pc:spChg>
      </pc:sldChg>
      <pc:sldChg chg="modSp mod modTransition">
        <pc:chgData name="Eliézer Thomas" userId="73fec7e389125d15" providerId="LiveId" clId="{7E8A6756-F1E3-4392-9ABD-9EEA6382CD8D}" dt="2026-09-29T20:08:32.026" v="1" actId="26606"/>
        <pc:sldMkLst>
          <pc:docMk/>
          <pc:sldMk cId="400001" sldId="259"/>
        </pc:sldMkLst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400001" sldId="259"/>
            <ac:spMk id="2" creationId="{00000004-0002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400001" sldId="259"/>
            <ac:spMk id="6" creationId="{00000004-0006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400001" sldId="259"/>
            <ac:spMk id="16" creationId="{00000004-0010-4000-8000-000000000000}"/>
          </ac:spMkLst>
        </pc:spChg>
        <pc:spChg chg="mod">
          <ac:chgData name="Eliézer Thomas" userId="73fec7e389125d15" providerId="LiveId" clId="{7E8A6756-F1E3-4392-9ABD-9EEA6382CD8D}" dt="2026-09-29T20:07:57.490" v="0" actId="26606"/>
          <ac:spMkLst>
            <pc:docMk/>
            <pc:sldMk cId="400001" sldId="259"/>
            <ac:spMk id="17" creationId="{00000004-0011-4000-8000-000000000000}"/>
          </ac:spMkLst>
        </pc:spChg>
      </pc:sldChg>
      <pc:sldChg chg="mod modTransition">
        <pc:chgData name="Eliézer Thomas" userId="73fec7e389125d15" providerId="LiveId" clId="{7E8A6756-F1E3-4392-9ABD-9EEA6382CD8D}" dt="2026-09-29T20:08:32.026" v="1" actId="26606"/>
        <pc:sldMkLst>
          <pc:docMk/>
          <pc:sldMk cId="500001" sldId="260"/>
        </pc:sldMkLst>
      </pc:sldChg>
      <pc:sldChg chg="mod modTransition">
        <pc:chgData name="Eliézer Thomas" userId="73fec7e389125d15" providerId="LiveId" clId="{7E8A6756-F1E3-4392-9ABD-9EEA6382CD8D}" dt="2026-09-29T20:08:32.026" v="1" actId="26606"/>
        <pc:sldMkLst>
          <pc:docMk/>
          <pc:sldMk cId="600001" sldId="261"/>
        </pc:sldMkLst>
      </pc:sldChg>
      <pc:sldChg chg="mod modTransition">
        <pc:chgData name="Eliézer Thomas" userId="73fec7e389125d15" providerId="LiveId" clId="{7E8A6756-F1E3-4392-9ABD-9EEA6382CD8D}" dt="2026-09-29T20:08:32.026" v="1" actId="26606"/>
        <pc:sldMkLst>
          <pc:docMk/>
          <pc:sldMk cId="700001" sldId="262"/>
        </pc:sldMkLst>
      </pc:sldChg>
      <pc:sldChg chg="mod modTransition">
        <pc:chgData name="Eliézer Thomas" userId="73fec7e389125d15" providerId="LiveId" clId="{7E8A6756-F1E3-4392-9ABD-9EEA6382CD8D}" dt="2026-09-29T20:08:32.026" v="1" actId="26606"/>
        <pc:sldMkLst>
          <pc:docMk/>
          <pc:sldMk cId="800001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028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57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-edge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6A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1047750" y="857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PROGRAMAÇÃO • PORTUGOL</a:t>
            </a:r>
            <a:endParaRPr lang="pt-BR" sz="1125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8382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20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Entendendo a sintaxe</a:t>
            </a:r>
            <a:endParaRPr lang="pt-BR" sz="420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buNone/>
              <a:defRPr sz="420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de uma loja digital</a:t>
            </a:r>
            <a:endParaRPr lang="pt-BR" sz="420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Uma leitura simples de variáveis, decisões, repetições e funções.</a:t>
            </a:r>
            <a:endParaRPr lang="pt-BR" sz="165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2381250" cy="47625"/>
          </a:xfrm>
          <a:prstGeom prst="rect">
            <a:avLst/>
          </a:prstGeom>
          <a:solidFill>
            <a:srgbClr val="F26A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cover-footer">
            <a:extLst>
              <a:ext uri="{FF2B5EF4-FFF2-40B4-BE49-F238E27FC236}">
                <a16:creationId xmlns:a16="http://schemas.microsoft.com/office/drawing/2014/main" id="{00000001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066800" y="5867400"/>
            <a:ext cx="628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Da entrada do usuário até a compra</a:t>
            </a:r>
            <a:endParaRPr lang="pt-BR" sz="1125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1" name="Programming artwork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391870"/>
            <a:ext cx="4160520" cy="375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VISÃO GERAL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O programa percorre dois fluxos: acesso e compra</a:t>
            </a:r>
            <a:endParaRPr lang="pt-BR" sz="285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02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access-field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1428750"/>
            <a:ext cx="6096000" cy="4762500"/>
          </a:xfrm>
          <a:prstGeom prst="rect">
            <a:avLst/>
          </a:prstGeom>
          <a:solidFill>
            <a:srgbClr val="EA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tore-field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6096000" cy="4762500"/>
          </a:xfrm>
          <a:prstGeom prst="rect">
            <a:avLst/>
          </a:prstGeom>
          <a:solidFill>
            <a:srgbClr val="FFF1E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23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500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lang="pt-BR" sz="4500" b="1" i="0">
              <a:solidFill>
                <a:srgbClr val="2B6F9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952625" y="18097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B6F9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FLUXO DE ACESSO</a:t>
            </a:r>
            <a:endParaRPr lang="pt-BR" sz="975" b="1" i="0">
              <a:solidFill>
                <a:srgbClr val="2B6F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2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191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lang="pt-BR" sz="2550" b="1" i="0" dirty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Cadastrar,</a:t>
            </a:r>
            <a:r>
              <a: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550" b="1" i="0" dirty="0" err="1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fazer</a:t>
            </a:r>
            <a:r>
              <a:rPr sz="2550" b="1" i="0" dirty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 login</a:t>
            </a:r>
            <a:endParaRPr lang="pt-BR" sz="2550" b="1" i="0" dirty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buNone/>
              <a:def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lang="pt-BR" sz="2550" b="1" i="0" dirty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ou entrar como visitante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0000002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4476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O menu aparece pelo menos uma vez e só termina quando o usuário sai</a:t>
            </a:r>
            <a:r>
              <a:rPr lang="pt-BR"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, faz login</a:t>
            </a: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 ou entra </a:t>
            </a:r>
            <a:r>
              <a:rPr lang="pt-BR"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como visitante</a:t>
            </a: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.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447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menu  →  escolha  →  </a:t>
            </a:r>
            <a:r>
              <a:rPr lang="pt-BR"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acesso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C8C6E"/>
                </a:solidFill>
                <a:latin typeface="Aptos"/>
                <a:ea typeface="Aptos"/>
                <a:cs typeface="Aptos"/>
              </a:defRPr>
            </a:pPr>
            <a:r>
              <a:rPr lang="pt-BR" sz="1275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Acesso liberado</a:t>
            </a:r>
            <a:r>
              <a:rPr sz="1275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: logado </a:t>
            </a:r>
            <a:r>
              <a:rPr lang="pt-BR" sz="1275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ou loginf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1695450"/>
            <a:ext cx="123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50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lang="pt-BR" sz="4500" b="1" i="0">
              <a:solidFill>
                <a:srgbClr val="F26A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FLUXO DA LOJA</a:t>
            </a:r>
            <a:endParaRPr lang="pt-BR" sz="975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0000002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2571750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Escolher, confirmar</a:t>
            </a:r>
            <a:endParaRPr lang="pt-BR" sz="255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buNone/>
              <a:def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e concluir a compra</a:t>
            </a:r>
            <a:endParaRPr lang="pt-BR" sz="255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000002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4572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O estoque é exibido, uma opção é lida e a compra pode ser confirmada ou cancelada.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0000002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estoque  →  confirmação  →  retorno</a:t>
            </a:r>
            <a:endParaRPr lang="pt-BR" sz="1350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0000002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5429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C8C6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O laço continua se a resposta for S ou s</a:t>
            </a:r>
            <a:endParaRPr lang="pt-BR" sz="1275" b="1" i="0">
              <a:solidFill>
                <a:srgbClr val="1C8C6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label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DADOS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As variáveis guardam o estado do </a:t>
            </a:r>
            <a:r>
              <a:rPr lang="pt-BR"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programa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03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B6F9E"/>
                </a:solidFill>
                <a:latin typeface="Aptos"/>
                <a:ea typeface="Aptos"/>
                <a:cs typeface="Aptos"/>
              </a:defRPr>
            </a:pPr>
            <a:r>
              <a:rPr lang="pt-BR"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VARIÁVEIS </a:t>
            </a:r>
            <a:r>
              <a:rPr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GLOBAIS</a:t>
            </a:r>
            <a:endParaRPr lang="pt-BR" sz="975" b="1" i="0">
              <a:solidFill>
                <a:srgbClr val="2B6F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global-code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48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cadeia usuarioCadastrado = ""</a:t>
            </a:r>
            <a:endParaRPr lang="pt-BR" sz="150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cadeia senhaCadastrada = ""</a:t>
            </a:r>
            <a:endParaRPr lang="pt-BR" sz="150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logico usuarioExiste = falso</a:t>
            </a:r>
            <a:endParaRPr lang="pt-BR" sz="150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Compartilhadas pelas funções de cadastro e login.</a:t>
            </a:r>
            <a:endParaRPr lang="pt-BR" sz="135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0" y="1581150"/>
            <a:ext cx="19050" cy="228600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15811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lang="pt-BR" sz="97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VARIÁVEIS </a:t>
            </a:r>
            <a:r>
              <a:rPr sz="97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LOCAIS</a:t>
            </a:r>
            <a:endParaRPr lang="pt-BR" sz="975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local-code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19526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caracter confirmacao, continuar</a:t>
            </a:r>
            <a:endParaRPr lang="pt-BR" sz="150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inteiro resposta, metodo, opcaoMenu</a:t>
            </a:r>
            <a:endParaRPr lang="pt-BR" sz="150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logico logado = falso</a:t>
            </a:r>
            <a:r>
              <a:rPr lang="pt-BR" sz="150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, loginf = falso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32575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Recebem escolhas, confirmações e o </a:t>
            </a:r>
            <a:r>
              <a:rPr lang="pt-BR" sz="135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modo de acesso</a:t>
            </a:r>
            <a:r>
              <a:rPr sz="135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.</a:t>
            </a:r>
            <a:endParaRPr lang="pt-BR" sz="135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ypes-band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12192000" cy="2019300"/>
          </a:xfrm>
          <a:prstGeom prst="rect">
            <a:avLst/>
          </a:prstGeom>
          <a:solidFill>
            <a:srgbClr val="EA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cadeia</a:t>
            </a:r>
            <a:endParaRPr lang="pt-BR" sz="1875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texto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4495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inteiro</a:t>
            </a:r>
            <a:endParaRPr lang="pt-BR" sz="1875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4933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números sem casas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4495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caracter</a:t>
            </a:r>
            <a:endParaRPr lang="pt-BR" sz="1875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4933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um símbolo: 'S'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4495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logico</a:t>
            </a:r>
            <a:endParaRPr lang="pt-BR" sz="1875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4933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verdadeiro ou falso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Regra prática: escolha o tipo pelo valor que será armazenado.</a:t>
            </a:r>
            <a:endParaRPr lang="pt-BR" sz="1425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label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REPETIÇÃO E MENU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O menu </a:t>
            </a:r>
            <a:r>
              <a:rPr lang="pt-BR"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só termina ao </a:t>
            </a: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sair ou </a:t>
            </a:r>
            <a:r>
              <a:rPr lang="pt-BR"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liberar o acesso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04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code-field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1428750"/>
            <a:ext cx="6572250" cy="4762500"/>
          </a:xfrm>
          <a:prstGeom prst="rect">
            <a:avLst/>
          </a:prstGeom>
          <a:solidFill>
            <a:srgbClr val="123B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loop-code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5572125" cy="390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faca {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escreva("1 - Criar Conta")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escreva("2 - Fazer Login")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escreva("3 - Sair")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lang="pt-BR"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escreva("4 - Entrar sem conta")</a:t>
            </a:r>
          </a:p>
          <a:p>
            <a:r>
              <a:rPr lang="pt-BR" sz="1275" b="0" i="0">
                <a:solidFill>
                  <a:srgbClr val="FFFFFF"/>
                </a:solidFill>
                <a:latin typeface="Courier New"/>
              </a:rPr>
              <a:t>  leia(opcaoMenu)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escolha(opcaoMenu) {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caso 1: cadastrarUsuario()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caso 2: logado = fazerLogin()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caso 3: escreva("Saindo...")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caso </a:t>
            </a:r>
            <a:r>
              <a:rPr lang="pt-BR"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4: loginf = verdadeiro</a:t>
            </a:r>
          </a:p>
          <a:p>
            <a:pPr algn="l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lang="pt-BR"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caso </a:t>
            </a: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contrario: ...</a:t>
            </a:r>
            <a:endParaRPr lang="pt-BR" sz="1275" b="0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 algn="l"/>
            <a:r>
              <a:rPr lang="pt-BR" sz="1275" b="0" i="0">
                <a:solidFill>
                  <a:srgbClr val="FFFFFF"/>
                </a:solidFill>
                <a:latin typeface="Courier New"/>
              </a:rPr>
              <a:t>  }</a:t>
            </a:r>
          </a:p>
          <a:p>
            <a:pPr algn="l"/>
            <a:r>
              <a:rPr lang="pt-BR" sz="1275" b="0" i="0">
                <a:solidFill>
                  <a:srgbClr val="FFFFFF"/>
                </a:solidFill>
                <a:latin typeface="Courier New"/>
              </a:rPr>
              <a:t>} enquanto (opcaoMenu != 3 e nao logado</a:t>
            </a:r>
          </a:p>
          <a:p>
            <a:pPr algn="l"/>
            <a:r>
              <a:rPr lang="pt-BR" sz="1275" b="0" i="0">
                <a:solidFill>
                  <a:srgbClr val="FFFFFF"/>
                </a:solidFill>
                <a:latin typeface="Courier New"/>
              </a:rPr>
              <a:t>            e nao loginf)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1714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rPr>
              <a:t>1</a:t>
            </a:r>
            <a:endParaRPr lang="pt-BR" sz="2850" b="1" i="0">
              <a:solidFill>
                <a:srgbClr val="F26A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17526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faca ... enquanto</a:t>
            </a:r>
            <a:endParaRPr lang="pt-BR" sz="172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4-0009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2114550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Executa primeiro; testa a condição no final.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ule">
            <a:extLst>
              <a:ext uri="{FF2B5EF4-FFF2-40B4-BE49-F238E27FC236}">
                <a16:creationId xmlns:a16="http://schemas.microsoft.com/office/drawing/2014/main" id="{00000004-000A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2724150"/>
            <a:ext cx="417195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000004-000B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29527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rPr>
              <a:t>2</a:t>
            </a:r>
            <a:endParaRPr lang="pt-BR" sz="2850" b="1" i="0">
              <a:solidFill>
                <a:srgbClr val="F26A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0000004-000C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29908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escolha ... caso</a:t>
            </a:r>
            <a:endParaRPr lang="pt-BR" sz="172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0000004-000D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3352800"/>
            <a:ext cx="3524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Compara a opção e executa apenas o caso correspondente.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ule">
            <a:extLst>
              <a:ext uri="{FF2B5EF4-FFF2-40B4-BE49-F238E27FC236}">
                <a16:creationId xmlns:a16="http://schemas.microsoft.com/office/drawing/2014/main" id="{00000004-000E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17195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0000004-000F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41910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rPr>
              <a:t>3</a:t>
            </a:r>
            <a:endParaRPr lang="pt-BR" sz="2850" b="1" i="0">
              <a:solidFill>
                <a:srgbClr val="F26A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000004-0010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422910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lang="pt-BR"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nao logado </a:t>
            </a:r>
            <a:r>
              <a:rPr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e nao </a:t>
            </a:r>
            <a:r>
              <a:rPr lang="pt-BR" sz="172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loginf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7677150" y="459105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O menu continua se </a:t>
            </a:r>
            <a:r>
              <a:rPr lang="pt-BR"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nenhuma forma de acesso foi liberada</a:t>
            </a:r>
            <a:r>
              <a:rPr sz="1275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.</a:t>
            </a:r>
            <a:endParaRPr lang="pt-BR" sz="1275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067550" y="5524500"/>
            <a:ext cx="417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C8C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pare encerra o caso atual — não o programa inteiro.</a:t>
            </a:r>
            <a:endParaRPr lang="pt-BR" sz="1350" b="1" i="0">
              <a:solidFill>
                <a:srgbClr val="1C8C6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ction-label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FUNÇÕES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5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Cadastro grava dados; login </a:t>
            </a:r>
            <a:r>
              <a:rPr lang="pt-BR"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valida credenciais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05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gister-field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1428750"/>
            <a:ext cx="5810250" cy="4762500"/>
          </a:xfrm>
          <a:prstGeom prst="rect">
            <a:avLst/>
          </a:prstGeom>
          <a:solidFill>
            <a:srgbClr val="EA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B6F9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FUNÇÃO 1</a:t>
            </a:r>
            <a:endParaRPr lang="pt-BR" sz="975" b="1" i="0">
              <a:solidFill>
                <a:srgbClr val="2B6F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cadastrarUsuario()</a:t>
            </a:r>
            <a:endParaRPr lang="pt-BR" sz="225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8" name="register-steps">
            <a:extLst>
              <a:ext uri="{FF2B5EF4-FFF2-40B4-BE49-F238E27FC236}">
                <a16:creationId xmlns:a16="http://schemas.microsoft.com/office/drawing/2014/main" id="{00000005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4476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1  Lê nome e senha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2  Salva nas variáveis globais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3  Marca usuarioExiste como verdadeiro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5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476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usuarioCadastrado = ...</a:t>
            </a:r>
            <a:endParaRPr lang="pt-BR" sz="1350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senhaCadastrada = ...</a:t>
            </a:r>
            <a:endParaRPr lang="pt-BR" sz="1350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usuarioExiste = verdadeiro</a:t>
            </a:r>
            <a:endParaRPr lang="pt-BR" sz="1350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0000005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1C8C6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C8C6E"/>
                </a:solidFill>
                <a:latin typeface="Aptos"/>
                <a:ea typeface="Aptos"/>
                <a:cs typeface="Aptos"/>
              </a:rPr>
              <a:t>Não precisa retornar valor.</a:t>
            </a:r>
            <a:endParaRPr lang="pt-BR" sz="1350" b="1" i="0">
              <a:solidFill>
                <a:srgbClr val="1C8C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0000005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362700" y="16954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FUNÇÃO 2</a:t>
            </a:r>
            <a:endParaRPr lang="pt-BR" sz="975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0000005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362700" y="20193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logico fazerLogin()</a:t>
            </a:r>
            <a:endParaRPr lang="pt-BR" sz="2250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3" name="login-steps">
            <a:extLst>
              <a:ext uri="{FF2B5EF4-FFF2-40B4-BE49-F238E27FC236}">
                <a16:creationId xmlns:a16="http://schemas.microsoft.com/office/drawing/2014/main" id="{00000005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362700" y="2714625"/>
            <a:ext cx="476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1  Verifica se existe cadastro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2  Lê usuário e senha digitados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425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3  Compara os dois pares de dados</a:t>
            </a:r>
            <a:endParaRPr lang="pt-BR" sz="1425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0000005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362700" y="4095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se (usuarioDig == usuarioCadastrado e</a:t>
            </a:r>
            <a:endParaRPr lang="pt-BR" sz="127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    senhaDig == senhaCadastrada)</a:t>
            </a:r>
            <a:endParaRPr lang="pt-BR" sz="127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  retorne verdadeiro</a:t>
            </a:r>
            <a:endParaRPr lang="pt-BR" sz="127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senao</a:t>
            </a:r>
            <a:endParaRPr lang="pt-BR" sz="127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123B5D"/>
                </a:solidFill>
                <a:latin typeface="Courier New"/>
                <a:ea typeface="Courier New"/>
                <a:cs typeface="Courier New"/>
              </a:rPr>
              <a:t>  retorne falso</a:t>
            </a:r>
            <a:endParaRPr lang="pt-BR" sz="1275" b="1" i="0">
              <a:solidFill>
                <a:srgbClr val="123B5D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00000005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362700" y="55054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O tipo logico antes do nome anuncia o retorno.</a:t>
            </a:r>
            <a:endParaRPr lang="pt-BR" sz="13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ection-label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FLUXO DA LOJA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6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23B5D"/>
                </a:solidFill>
                <a:latin typeface="Aptos Display"/>
                <a:ea typeface="Aptos Display"/>
                <a:cs typeface="Aptos Display"/>
              </a:rPr>
              <a:t>A loja combina escolha, confirmação e repetição</a:t>
            </a:r>
            <a:endParaRPr lang="pt-BR" sz="2850" b="1" i="0">
              <a:solidFill>
                <a:srgbClr val="123B5D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06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lang="pt-BR" sz="2325" b="1" i="0">
              <a:solidFill>
                <a:srgbClr val="2B6F9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Exibir estoque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219075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escreva(...) mostra os 6 itens</a:t>
            </a:r>
            <a:endParaRPr lang="pt-BR" sz="120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6-0009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16383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lang="pt-BR" sz="2325" b="1" i="0">
              <a:solidFill>
                <a:srgbClr val="2B6F9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0000006-000A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21336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Ler a opção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00000006-000B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2581275"/>
            <a:ext cx="219075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0000006-000C-4000-8000-000000000000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leia(resposta) recebe um inteiro</a:t>
            </a:r>
            <a:endParaRPr lang="pt-BR" sz="120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0000006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26A2E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lang="pt-BR" sz="2325" b="1" i="0">
              <a:solidFill>
                <a:srgbClr val="F26A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0000006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21336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Confirmar compra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00000006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2581275"/>
            <a:ext cx="2190750" cy="38100"/>
          </a:xfrm>
          <a:prstGeom prst="rect">
            <a:avLst/>
          </a:prstGeom>
          <a:solidFill>
            <a:srgbClr val="F26A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000006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S ou s conclui; outro valor cancela</a:t>
            </a:r>
            <a:endParaRPr lang="pt-BR" sz="120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0000006-0011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163830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2B6F9E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lang="pt-BR" sz="2325" b="1" i="0">
              <a:solidFill>
                <a:srgbClr val="2B6F9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00000006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Perguntar se volta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ule">
            <a:extLst>
              <a:ext uri="{FF2B5EF4-FFF2-40B4-BE49-F238E27FC236}">
                <a16:creationId xmlns:a16="http://schemas.microsoft.com/office/drawing/2014/main" id="{00000006-0013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2581275"/>
            <a:ext cx="219075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0000006-0014-4000-8000-000000000000}"/>
              </a:ext>
            </a:extLst>
          </p:cNvPr>
          <p:cNvSpPr>
            <a:spLocks noGrp="1"/>
          </p:cNvSpPr>
          <p:nvPr/>
        </p:nvSpPr>
        <p:spPr>
          <a:xfrm>
            <a:off x="8915400" y="27813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S ou s repete o laço da loja</a:t>
            </a:r>
            <a:endParaRPr lang="pt-BR" sz="1200" b="0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inventory-band">
            <a:extLst>
              <a:ext uri="{FF2B5EF4-FFF2-40B4-BE49-F238E27FC236}">
                <a16:creationId xmlns:a16="http://schemas.microsoft.com/office/drawing/2014/main" id="{00000006-0015-4000-8000-000000000000}"/>
              </a:ext>
            </a:extLst>
          </p:cNvPr>
          <p:cNvSpPr>
            <a:spLocks noGrp="1"/>
          </p:cNvSpPr>
          <p:nvPr/>
        </p:nvSpPr>
        <p:spPr>
          <a:xfrm>
            <a:off x="0" y="3714750"/>
            <a:ext cx="12192000" cy="2476500"/>
          </a:xfrm>
          <a:prstGeom prst="rect">
            <a:avLst/>
          </a:prstGeom>
          <a:solidFill>
            <a:srgbClr val="EAF4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0000006-0016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 i="0">
                <a:solidFill>
                  <a:srgbClr val="2B6F9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ESCOLHA</a:t>
            </a:r>
            <a:r>
              <a:rPr lang="pt-BR"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:</a:t>
            </a:r>
            <a:r>
              <a:rPr sz="975" b="1" i="0">
                <a:solidFill>
                  <a:srgbClr val="2B6F9E"/>
                </a:solidFill>
                <a:latin typeface="Aptos"/>
                <a:ea typeface="Aptos"/>
                <a:cs typeface="Aptos"/>
              </a:rPr>
              <a:t> SEIS CAMINHOS</a:t>
            </a:r>
            <a:endParaRPr lang="pt-BR" sz="975" b="1" i="0">
              <a:solidFill>
                <a:srgbClr val="2B6F9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00000006-001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1  Gibson Les Paul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2  Fender Stratocaster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3  Violino Stradivarius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00000006-0018-4000-8000-000000000000}"/>
              </a:ext>
            </a:extLst>
          </p:cNvPr>
          <p:cNvSpPr>
            <a:spLocks noGrp="1"/>
          </p:cNvSpPr>
          <p:nvPr/>
        </p:nvSpPr>
        <p:spPr>
          <a:xfrm>
            <a:off x="4476750" y="4457700"/>
            <a:ext cx="3429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4  Violão Martin D-28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5  Piano Yamaha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1500" b="1" i="0">
                <a:solidFill>
                  <a:srgbClr val="123B5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23B5D"/>
                </a:solidFill>
                <a:latin typeface="Aptos"/>
                <a:ea typeface="Aptos"/>
                <a:cs typeface="Aptos"/>
              </a:rPr>
              <a:t>6  Flauta doce soprano</a:t>
            </a:r>
            <a:endParaRPr lang="pt-BR" sz="1500" b="1" i="0">
              <a:solidFill>
                <a:srgbClr val="123B5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payment-accent">
            <a:extLst>
              <a:ext uri="{FF2B5EF4-FFF2-40B4-BE49-F238E27FC236}">
                <a16:creationId xmlns:a16="http://schemas.microsoft.com/office/drawing/2014/main" id="{00000006-0019-4000-8000-000000000000}"/>
              </a:ext>
            </a:extLst>
          </p:cNvPr>
          <p:cNvSpPr>
            <a:spLocks noGrp="1"/>
          </p:cNvSpPr>
          <p:nvPr/>
        </p:nvSpPr>
        <p:spPr>
          <a:xfrm>
            <a:off x="8286750" y="4095750"/>
            <a:ext cx="76200" cy="1562100"/>
          </a:xfrm>
          <a:prstGeom prst="rect">
            <a:avLst/>
          </a:prstGeom>
          <a:solidFill>
            <a:srgbClr val="F26A2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00000006-001A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41719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Atenção à exceção</a:t>
            </a:r>
            <a:endParaRPr lang="pt-BR" sz="1425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00000006-001B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4610100"/>
            <a:ext cx="2762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73042"/>
                </a:solidFill>
                <a:latin typeface="Aptos"/>
                <a:ea typeface="Aptos"/>
                <a:cs typeface="Aptos"/>
              </a:rPr>
              <a:t>Somente a flauta pergunta a forma de pagamento antes de concluir.</a:t>
            </a:r>
            <a:endParaRPr lang="pt-BR" sz="1350" b="0" i="0">
              <a:solidFill>
                <a:srgbClr val="1730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00000006-001C-4000-8000-000000000000}"/>
              </a:ext>
            </a:extLst>
          </p:cNvPr>
          <p:cNvSpPr>
            <a:spLocks noGrp="1"/>
          </p:cNvSpPr>
          <p:nvPr/>
        </p:nvSpPr>
        <p:spPr>
          <a:xfrm>
            <a:off x="8591550" y="5391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i="0">
                <a:solidFill>
                  <a:srgbClr val="2B6F9E"/>
                </a:solidFill>
                <a:latin typeface="Courier New"/>
                <a:ea typeface="Courier New"/>
                <a:cs typeface="Courier New"/>
              </a:rPr>
              <a:t>metodo &gt;= 1 e metodo &lt;= 3</a:t>
            </a:r>
            <a:endParaRPr lang="pt-BR" sz="1200" b="1" i="0">
              <a:solidFill>
                <a:srgbClr val="2B6F9E"/>
              </a:solidFill>
              <a:latin typeface="Courier New"/>
              <a:ea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 i="0">
                <a:solidFill>
                  <a:srgbClr val="F26A2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6A2E"/>
                </a:solidFill>
                <a:latin typeface="Aptos"/>
                <a:ea typeface="Aptos"/>
                <a:cs typeface="Aptos"/>
              </a:rPr>
              <a:t>DECISÕES</a:t>
            </a:r>
            <a:endParaRPr lang="pt-BR" sz="1050" b="1" i="0">
              <a:solidFill>
                <a:srgbClr val="F26A2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0000007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Se, senão, e, ou e não controlam os caminhos</a:t>
            </a:r>
            <a:endParaRPr lang="pt-BR" sz="28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3F658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se / senao</a:t>
            </a:r>
            <a:endParaRPr lang="pt-BR" sz="1875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1562100"/>
            <a:ext cx="557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 (logado) { ... } senao { ... }</a:t>
            </a:r>
            <a:endParaRPr lang="pt-BR" sz="1275" b="1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6" name="operator-meaning">
            <a:extLst>
              <a:ext uri="{FF2B5EF4-FFF2-40B4-BE49-F238E27FC236}">
                <a16:creationId xmlns:a16="http://schemas.microsoft.com/office/drawing/2014/main" id="{00000007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763000" y="15621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CFE3E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FE3EF"/>
                </a:solidFill>
                <a:latin typeface="Aptos"/>
                <a:ea typeface="Aptos"/>
                <a:cs typeface="Aptos"/>
              </a:rPr>
              <a:t>Escolhe entre dois blocos.</a:t>
            </a:r>
            <a:endParaRPr lang="pt-BR" sz="1275" b="0" i="0">
              <a:solidFill>
                <a:srgbClr val="CFE3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ule">
            <a:extLst>
              <a:ext uri="{FF2B5EF4-FFF2-40B4-BE49-F238E27FC236}">
                <a16:creationId xmlns:a16="http://schemas.microsoft.com/office/drawing/2014/main" id="{00000007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9525"/>
          </a:xfrm>
          <a:prstGeom prst="rect">
            <a:avLst/>
          </a:prstGeom>
          <a:solidFill>
            <a:srgbClr val="3F658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0000007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e</a:t>
            </a:r>
            <a:endParaRPr lang="pt-BR" sz="1875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000007-0009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2647950"/>
            <a:ext cx="557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usuarioDig == usuarioCadastrado e senhaDig == senhaCadastrada</a:t>
            </a:r>
            <a:endParaRPr lang="pt-BR" sz="1125" b="1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0" name="operator-meaning">
            <a:extLst>
              <a:ext uri="{FF2B5EF4-FFF2-40B4-BE49-F238E27FC236}">
                <a16:creationId xmlns:a16="http://schemas.microsoft.com/office/drawing/2014/main" id="{00000007-000A-4000-8000-000000000000}"/>
              </a:ext>
            </a:extLst>
          </p:cNvPr>
          <p:cNvSpPr>
            <a:spLocks noGrp="1"/>
          </p:cNvSpPr>
          <p:nvPr/>
        </p:nvSpPr>
        <p:spPr>
          <a:xfrm>
            <a:off x="8763000" y="26479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CFE3E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FE3EF"/>
                </a:solidFill>
                <a:latin typeface="Aptos"/>
                <a:ea typeface="Aptos"/>
                <a:cs typeface="Aptos"/>
              </a:rPr>
              <a:t>As duas comparações precisam ser verdadeiras.</a:t>
            </a:r>
            <a:endParaRPr lang="pt-BR" sz="1275" b="0" i="0">
              <a:solidFill>
                <a:srgbClr val="CFE3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ule">
            <a:extLst>
              <a:ext uri="{FF2B5EF4-FFF2-40B4-BE49-F238E27FC236}">
                <a16:creationId xmlns:a16="http://schemas.microsoft.com/office/drawing/2014/main" id="{00000007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0820400" cy="9525"/>
          </a:xfrm>
          <a:prstGeom prst="rect">
            <a:avLst/>
          </a:prstGeom>
          <a:solidFill>
            <a:srgbClr val="3F658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00000007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ou</a:t>
            </a:r>
            <a:endParaRPr lang="pt-BR" sz="1875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0000007-000D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3733800"/>
            <a:ext cx="557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confirmacao == 'S' ou confirmacao == 's'</a:t>
            </a:r>
            <a:endParaRPr lang="pt-BR" sz="1275" b="1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4" name="operator-meaning">
            <a:extLst>
              <a:ext uri="{FF2B5EF4-FFF2-40B4-BE49-F238E27FC236}">
                <a16:creationId xmlns:a16="http://schemas.microsoft.com/office/drawing/2014/main" id="{00000007-000E-4000-8000-000000000000}"/>
              </a:ext>
            </a:extLst>
          </p:cNvPr>
          <p:cNvSpPr>
            <a:spLocks noGrp="1"/>
          </p:cNvSpPr>
          <p:nvPr/>
        </p:nvSpPr>
        <p:spPr>
          <a:xfrm>
            <a:off x="8763000" y="373380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CFE3E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FE3EF"/>
                </a:solidFill>
                <a:latin typeface="Aptos"/>
                <a:ea typeface="Aptos"/>
                <a:cs typeface="Aptos"/>
              </a:rPr>
              <a:t>Basta uma das comparações ser verdadeira.</a:t>
            </a:r>
            <a:endParaRPr lang="pt-BR" sz="1275" b="0" i="0">
              <a:solidFill>
                <a:srgbClr val="CFE3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ule">
            <a:extLst>
              <a:ext uri="{FF2B5EF4-FFF2-40B4-BE49-F238E27FC236}">
                <a16:creationId xmlns:a16="http://schemas.microsoft.com/office/drawing/2014/main" id="{00000007-000F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9525"/>
          </a:xfrm>
          <a:prstGeom prst="rect">
            <a:avLst/>
          </a:prstGeom>
          <a:solidFill>
            <a:srgbClr val="3F658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0000007-0010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F26A2E"/>
                </a:solidFill>
                <a:latin typeface="Courier New"/>
                <a:ea typeface="Courier New"/>
                <a:cs typeface="Courier New"/>
              </a:rPr>
              <a:t>nao</a:t>
            </a:r>
            <a:endParaRPr lang="pt-BR" sz="1875" b="1" i="0">
              <a:solidFill>
                <a:srgbClr val="F26A2E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0000007-0011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4819650"/>
            <a:ext cx="5572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nao usuarioExiste</a:t>
            </a:r>
            <a:endParaRPr lang="pt-BR" sz="1275" b="1" i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18" name="operator-meaning">
            <a:extLst>
              <a:ext uri="{FF2B5EF4-FFF2-40B4-BE49-F238E27FC236}">
                <a16:creationId xmlns:a16="http://schemas.microsoft.com/office/drawing/2014/main" id="{00000007-0012-4000-8000-000000000000}"/>
              </a:ext>
            </a:extLst>
          </p:cNvPr>
          <p:cNvSpPr>
            <a:spLocks noGrp="1"/>
          </p:cNvSpPr>
          <p:nvPr/>
        </p:nvSpPr>
        <p:spPr>
          <a:xfrm>
            <a:off x="8763000" y="4819650"/>
            <a:ext cx="274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CFE3EF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FE3EF"/>
                </a:solidFill>
                <a:latin typeface="Aptos"/>
                <a:ea typeface="Aptos"/>
                <a:cs typeface="Aptos"/>
              </a:rPr>
              <a:t>Inverte o valor lógico: verdadeiro vira falso.</a:t>
            </a:r>
            <a:endParaRPr lang="pt-BR" sz="1275" b="0" i="0">
              <a:solidFill>
                <a:srgbClr val="CFE3E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00000007-001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9BE8D1"/>
                </a:solidFill>
                <a:latin typeface="Aptos"/>
                <a:ea typeface="Aptos"/>
                <a:cs typeface="Aptos"/>
              </a:defRPr>
            </a:pPr>
            <a:r>
              <a:rPr lang="pt-BR" sz="1425" b="1" i="0">
                <a:solidFill>
                  <a:srgbClr val="9BE8D1"/>
                </a:solidFill>
                <a:latin typeface="Aptos"/>
                <a:ea typeface="Aptos"/>
                <a:cs typeface="Aptos"/>
              </a:rPr>
              <a:t>Leia a condição como uma pergunta que só pode responder verdadeiro ou falso.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00000007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CFE3E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CFE3EF"/>
                </a:solidFill>
                <a:latin typeface="Aptos"/>
                <a:ea typeface="Aptos"/>
                <a:cs typeface="Aptos"/>
              </a:rPr>
              <a:t>07</a:t>
            </a:r>
            <a:endParaRPr lang="pt-BR" sz="900" b="1" i="0">
              <a:solidFill>
                <a:srgbClr val="CFE3E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ion-label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pt-BR">
                <a:solidFill>
                  <a:srgbClr val="F26A2E"/>
                </a:solidFill>
              </a:rPr>
              <a:t>FINALIZAÇÃO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000008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lang="pt-BR" sz="2850" b="1">
                <a:solidFill>
                  <a:srgbClr val="123B5D"/>
                </a:solidFill>
                <a:latin typeface="Aptos Display"/>
              </a:rPr>
              <a:t>A sintaxe fica simples quando o fluxo fica claro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10820400" cy="19050"/>
          </a:xfrm>
          <a:prstGeom prst="rect">
            <a:avLst/>
          </a:prstGeom>
          <a:solidFill>
            <a:srgbClr val="D7E3E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0953750" y="64293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 i="0">
                <a:solidFill>
                  <a:srgbClr val="5C6B7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5C6B76"/>
                </a:solidFill>
                <a:latin typeface="Aptos"/>
                <a:ea typeface="Aptos"/>
                <a:cs typeface="Aptos"/>
              </a:rPr>
              <a:t>08</a:t>
            </a:r>
            <a:endParaRPr lang="pt-BR" sz="900" b="1" i="0">
              <a:solidFill>
                <a:srgbClr val="5C6B7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losing-thanks"/>
          <p:cNvSpPr txBox="1"/>
          <p:nvPr/>
        </p:nvSpPr>
        <p:spPr>
          <a:xfrm>
            <a:off x="685800" y="1874519"/>
            <a:ext cx="69494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400" b="1">
                <a:solidFill>
                  <a:srgbClr val="123B5D"/>
                </a:solidFill>
                <a:latin typeface="Aptos Display"/>
              </a:rPr>
              <a:t>Obrigado!</a:t>
            </a:r>
          </a:p>
        </p:txBody>
      </p:sp>
      <p:sp>
        <p:nvSpPr>
          <p:cNvPr id="32" name="closing-accent"/>
          <p:cNvSpPr/>
          <p:nvPr/>
        </p:nvSpPr>
        <p:spPr>
          <a:xfrm>
            <a:off x="704088" y="3090672"/>
            <a:ext cx="2377440" cy="50292"/>
          </a:xfrm>
          <a:prstGeom prst="rect">
            <a:avLst/>
          </a:prstGeom>
          <a:solidFill>
            <a:srgbClr val="F2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losing-summary"/>
          <p:cNvSpPr txBox="1"/>
          <p:nvPr/>
        </p:nvSpPr>
        <p:spPr>
          <a:xfrm>
            <a:off x="685800" y="3401568"/>
            <a:ext cx="7498079" cy="6668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pt-BR" sz="2000">
                <a:solidFill>
                  <a:srgbClr val="5C6B76"/>
                </a:solidFill>
                <a:latin typeface="Aptos"/>
              </a:rPr>
              <a:t>Variáveis guardam dados. Decisões escolhem caminhos.</a:t>
            </a:r>
          </a:p>
          <a:p>
            <a:pPr>
              <a:spcAft>
                <a:spcPts val="400"/>
              </a:spcAft>
            </a:pPr>
            <a:r>
              <a:rPr lang="pt-BR" sz="2000">
                <a:solidFill>
                  <a:srgbClr val="5C6B76"/>
                </a:solidFill>
                <a:latin typeface="Aptos"/>
              </a:rPr>
              <a:t>Repetições mantêm o fluxo. Funções organizam o programa.</a:t>
            </a:r>
          </a:p>
        </p:txBody>
      </p:sp>
      <p:sp>
        <p:nvSpPr>
          <p:cNvPr id="34" name="closing-brace"/>
          <p:cNvSpPr txBox="1"/>
          <p:nvPr/>
        </p:nvSpPr>
        <p:spPr>
          <a:xfrm>
            <a:off x="8549640" y="1847088"/>
            <a:ext cx="2057400" cy="2148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800" b="1">
                <a:solidFill>
                  <a:srgbClr val="EAF4FA"/>
                </a:solidFill>
                <a:latin typeface="Courier New"/>
              </a:rPr>
              <a:t>}</a:t>
            </a:r>
          </a:p>
        </p:txBody>
      </p:sp>
      <p:sp>
        <p:nvSpPr>
          <p:cNvPr id="35" name="closing-question"/>
          <p:cNvSpPr txBox="1"/>
          <p:nvPr/>
        </p:nvSpPr>
        <p:spPr>
          <a:xfrm>
            <a:off x="8458200" y="409651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>
                <a:solidFill>
                  <a:srgbClr val="2B6F9E"/>
                </a:solidFill>
                <a:latin typeface="Aptos"/>
              </a:rPr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703</Words>
  <Application>Microsoft Office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Courier New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Eliézer Thomas</dc:creator>
  <cp:lastModifiedBy>Eliézer Thomas</cp:lastModifiedBy>
  <cp:revision>1</cp:revision>
  <dcterms:created xsi:type="dcterms:W3CDTF">2026-09-29T19:26:01Z</dcterms:created>
  <dcterms:modified xsi:type="dcterms:W3CDTF">2026-09-29T20:09:16Z</dcterms:modified>
</cp:coreProperties>
</file>